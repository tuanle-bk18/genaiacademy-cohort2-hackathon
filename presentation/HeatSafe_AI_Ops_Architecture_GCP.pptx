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TSAFE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05A3C"/>
          </a:solidFill>
          <a:ln w="12700">
            <a:solidFill>
              <a:srgbClr val="F05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HEATSAFE  /  AI 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0" y="64739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Kiến trúc vận hành &amp; hạ tầng GCP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05A3C"/>
          </a:solidFill>
          <a:ln w="12700">
            <a:solidFill>
              <a:srgbClr val="F05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498080" y="731520"/>
            <a:ext cx="4114800" cy="4114800"/>
          </a:xfrm>
          <a:prstGeom prst="arc">
            <a:avLst/>
          </a:prstGeom>
          <a:solidFill>
            <a:srgbClr val="0B1F33">
              <a:alpha val="0"/>
            </a:srgbClr>
          </a:solidFill>
          <a:ln w="13970">
            <a:solidFill>
              <a:srgbClr val="204B68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7744968" y="1005840"/>
            <a:ext cx="3794760" cy="3794760"/>
          </a:xfrm>
          <a:prstGeom prst="arc">
            <a:avLst/>
          </a:prstGeom>
          <a:solidFill>
            <a:srgbClr val="0B1F33">
              <a:alpha val="0"/>
            </a:srgbClr>
          </a:solidFill>
          <a:ln w="13970">
            <a:solidFill>
              <a:srgbClr val="1A3C56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00000">
            <a:off x="7991856" y="1280160"/>
            <a:ext cx="3474720" cy="3474720"/>
          </a:xfrm>
          <a:prstGeom prst="arc">
            <a:avLst/>
          </a:prstGeom>
          <a:solidFill>
            <a:srgbClr val="0B1F33">
              <a:alpha val="0"/>
            </a:srgbClr>
          </a:solidFill>
          <a:ln w="13970">
            <a:solidFill>
              <a:srgbClr val="204B6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8238744" y="1554480"/>
            <a:ext cx="3154680" cy="3154680"/>
          </a:xfrm>
          <a:prstGeom prst="arc">
            <a:avLst/>
          </a:prstGeom>
          <a:solidFill>
            <a:srgbClr val="0B1F33">
              <a:alpha val="0"/>
            </a:srgbClr>
          </a:solidFill>
          <a:ln w="13970">
            <a:solidFill>
              <a:srgbClr val="1A3C56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200000">
            <a:off x="8485632" y="1828800"/>
            <a:ext cx="2834640" cy="2834640"/>
          </a:xfrm>
          <a:prstGeom prst="arc">
            <a:avLst/>
          </a:prstGeom>
          <a:solidFill>
            <a:srgbClr val="0B1F33">
              <a:alpha val="0"/>
            </a:srgbClr>
          </a:solidFill>
          <a:ln w="13970">
            <a:solidFill>
              <a:srgbClr val="204B68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200000">
            <a:off x="8732520" y="2103120"/>
            <a:ext cx="2514600" cy="2514600"/>
          </a:xfrm>
          <a:prstGeom prst="arc">
            <a:avLst/>
          </a:prstGeom>
          <a:solidFill>
            <a:srgbClr val="0B1F33">
              <a:alpha val="0"/>
            </a:srgbClr>
          </a:solidFill>
          <a:ln w="13970">
            <a:solidFill>
              <a:srgbClr val="1A3C56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200000">
            <a:off x="8979408" y="2377440"/>
            <a:ext cx="2194560" cy="2194560"/>
          </a:xfrm>
          <a:prstGeom prst="arc">
            <a:avLst/>
          </a:prstGeom>
          <a:solidFill>
            <a:srgbClr val="0B1F33">
              <a:alpha val="0"/>
            </a:srgbClr>
          </a:solidFill>
          <a:ln w="13970">
            <a:solidFill>
              <a:srgbClr val="204B68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969264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98298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DEMO  •  GCP-NATIVE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94360" y="157276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HeatSafe AI Ops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612648" y="237744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Kiến trúc vận hành, tối ưu quyết định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và cách ứng dụng hạ tầng Google Cloud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2648" y="3401568"/>
            <a:ext cx="2267712" cy="0"/>
          </a:xfrm>
          <a:prstGeom prst="line">
            <a:avLst/>
          </a:prstGeom>
          <a:noFill/>
          <a:ln w="31750">
            <a:solidFill>
              <a:srgbClr val="F05A3C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12648" y="3694176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Bảo vệ tài xế trong nắng nóng cực đoan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trong khi vẫn giữ chi phí, fulfillment và ETA trong ngưỡng vận hành.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974336"/>
            <a:ext cx="5440680" cy="877824"/>
          </a:xfrm>
          <a:prstGeom prst="roundRect">
            <a:avLst>
              <a:gd name="adj" fmla="val 12500"/>
            </a:avLst>
          </a:prstGeom>
          <a:solidFill>
            <a:srgbClr val="12304A"/>
          </a:solidFill>
          <a:ln w="6350">
            <a:solidFill>
              <a:srgbClr val="12304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148072"/>
            <a:ext cx="49560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dữ liệu → dự báo → đề xuất SafePause →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quyết định có ràng buộc → audit có thể truy vết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" y="614476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3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 trình bày kỹ thuật  |  26.07.2026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418320" y="614476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3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HEATSAFE / AI OPS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BÀI TOÁN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Tối ưu “an toàn trước, dịch vụ vững”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19786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HeatSafe biến rủi ro nắng nóng thành quyết định vận hành có thể kiểm chứng.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5295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64008" cy="1965960"/>
          </a:xfrm>
          <a:prstGeom prst="rect">
            <a:avLst/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99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391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44168" y="2011680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phi tuyến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23744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Nhiệt độ, độ ẩm, thời gian phơi nhiễm và cường độ công việc có thể khiến rủi ro tăng nhanh ở từng tài xế.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5295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4256" y="1828800"/>
            <a:ext cx="64008" cy="196596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62856" y="20299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635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20391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84064" y="2011680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Ràng buộc kinh doanh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62856" y="2523744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 nghỉ đồng loạt có thể giảm nguồn cung, tăng thời gian chờ và làm giảm fulfillment.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074152" y="1828800"/>
            <a:ext cx="35295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74152" y="1828800"/>
            <a:ext cx="64008" cy="1965960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2752" y="20299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20391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23960" y="2011680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Khoảng trống quyết định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02752" y="2523744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phối viên cần biết ai cần nghỉ, nghỉ khi nào, trong bao lâu — và tác động tới dịch vụ là bao nhiêu.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94360" y="4270248"/>
            <a:ext cx="11009376" cy="1344168"/>
          </a:xfrm>
          <a:prstGeom prst="roundRect">
            <a:avLst>
              <a:gd name="adj" fmla="val 10204"/>
            </a:avLst>
          </a:prstGeom>
          <a:solidFill>
            <a:srgbClr val="102A43"/>
          </a:solidFill>
          <a:ln w="635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5354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Nguyên tắc thiết kế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81528" y="4517136"/>
            <a:ext cx="0" cy="740664"/>
          </a:xfrm>
          <a:prstGeom prst="line">
            <a:avLst/>
          </a:prstGeom>
          <a:noFill/>
          <a:ln w="12700">
            <a:solidFill>
              <a:srgbClr val="4D6C86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3383280" y="447141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tối ưu chỉ theo điểm rủi ro.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Mọi đề xuất phải đồng thời qua “cổng” an toàn, chi phí và SLA.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08976" y="4590288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82128" y="460400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8979408" y="459028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635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460400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10003536" y="459028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635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76688" y="46040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603504" y="587044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i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ý: Heat Index là chỉ báo sàng lọc vận hành, không phải chẩn đoán y khoa.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NHÌN TỔNG THỂ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ứng dụng, hai runtime phù hợp hai mục đích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19786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Cùng UI và logic SafePause, nhưng tách rõ mode cloud vận hành và mode demo stateful.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755648"/>
            <a:ext cx="5358384" cy="4096512"/>
          </a:xfrm>
          <a:prstGeom prst="roundRect">
            <a:avLst>
              <a:gd name="adj" fmla="val 3348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002536"/>
            <a:ext cx="2084832" cy="256032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01625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/ CLOUD-BACKED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877824" y="24231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 sát &amp; hỗ trợ quyết định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" y="29077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9EAF7"/>
          </a:solidFill>
          <a:ln w="6350">
            <a:solidFill>
              <a:srgbClr val="D9EA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93522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29032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Đọc snapshot mới nhất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1089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 + kiểm tra freshness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6112" y="35112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9EAF7"/>
          </a:solidFill>
          <a:ln w="6350">
            <a:solidFill>
              <a:srgbClr val="D9EA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3872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35067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Lấy dự báo và điểm rủi 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7124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TimesFM + BigQuery ML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96112" y="4114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9EAF7"/>
          </a:solidFill>
          <a:ln w="6350">
            <a:solidFill>
              <a:srgbClr val="D9EAF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14223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41102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đề xuất có guardrail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4315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SafePause optimizer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96112" y="47183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9EAF7"/>
          </a:solidFill>
          <a:ln w="6350">
            <a:solidFill>
              <a:srgbClr val="D9EA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7457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71600" y="47137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Ghi audit mô phỏng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49194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dispatch thực tế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208776" y="1755648"/>
            <a:ext cx="5358384" cy="4096512"/>
          </a:xfrm>
          <a:prstGeom prst="roundRect">
            <a:avLst>
              <a:gd name="adj" fmla="val 3348"/>
            </a:avLst>
          </a:prstGeom>
          <a:solidFill>
            <a:srgbClr val="F0FAF8"/>
          </a:solidFill>
          <a:ln w="6350">
            <a:solidFill>
              <a:srgbClr val="B8E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4808" y="2002536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1F9D72"/>
          </a:solidFill>
          <a:ln w="635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01625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ACCELERATED PRODUCTION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6464808" y="24231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vòng đời có trạng thái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83096" y="29077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7F3EB"/>
          </a:solidFill>
          <a:ln w="6350">
            <a:solidFill>
              <a:srgbClr val="D7F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3096" y="293522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29032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K−8 → 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31089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checkpoint; engine tiến theo tick 15 phút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483096" y="35112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7F3EB"/>
          </a:solidFill>
          <a:ln w="6350">
            <a:solidFill>
              <a:srgbClr val="D7F3E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3096" y="353872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0" y="35067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Tại 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37124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dùng chọn Activate hoặc Continue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483096" y="4114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7F3EB"/>
          </a:solidFill>
          <a:ln w="6350">
            <a:solidFill>
              <a:srgbClr val="D7F3E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3096" y="414223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49440" y="41102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K+1 → K+8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9440" y="43159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và shadow baseline chạy song song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483096" y="47183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7F3EB"/>
          </a:solidFill>
          <a:ln w="6350">
            <a:solidFill>
              <a:srgbClr val="D7F3E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83096" y="47457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49440" y="47137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49440" y="49194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Hiện lifecycle, service delta và audit lineage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621792" y="598932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i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accelerated dùng engine deterministic tại tiến trình Streamlit để trình diễn hành vi; nó không gọi provider ở mỗi tick.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LUỒNG DỮ LIỆU &amp; QUYẾT ĐỊNH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tín hiệu vận hành đến đề xuất SafePause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19786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bước đều gắn theo snapshot, run và model version để kết quả có thể giải thích và truy vết.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1847088" cy="713232"/>
          </a:xfrm>
          <a:prstGeom prst="roundRect">
            <a:avLst>
              <a:gd name="adj" fmla="val 16667"/>
            </a:avLst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002536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 HIỆU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229514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Open-Meteo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fleet simulation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847088" cy="713232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635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18211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&amp; LINEAGE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347472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Storage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raw_gcs_uri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816352" y="1883664"/>
            <a:ext cx="2084832" cy="713232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635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0025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OF RECORD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35224" y="229514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+ history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816352" y="3063240"/>
            <a:ext cx="2084832" cy="713232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635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18211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OUTPUTS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35224" y="347472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+ prediction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forecast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340096" y="1883664"/>
            <a:ext cx="2103120" cy="71323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635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200253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DỰ BÁO CẦU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58968" y="229514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TimesFM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AI.FORECAST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340096" y="3063240"/>
            <a:ext cx="2103120" cy="713232"/>
          </a:xfrm>
          <a:prstGeom prst="roundRect">
            <a:avLst>
              <a:gd name="adj" fmla="val 16667"/>
            </a:avLst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318211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TÀI XẾ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58968" y="347472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Boosted Tree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 ML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7882128" y="2459736"/>
            <a:ext cx="2084832" cy="822960"/>
          </a:xfrm>
          <a:prstGeom prst="roundRect">
            <a:avLst>
              <a:gd name="adj" fmla="val 14444"/>
            </a:avLst>
          </a:prstGeom>
          <a:solidFill>
            <a:srgbClr val="1F9D72"/>
          </a:solidFill>
          <a:ln w="635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91856" y="257860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SAFEPAUSE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01000" y="28712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Counterfactual scoring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constrained optimizer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10369296" y="1883664"/>
            <a:ext cx="1261872" cy="713232"/>
          </a:xfrm>
          <a:prstGeom prst="roundRect">
            <a:avLst>
              <a:gd name="adj" fmla="val 16667"/>
            </a:avLst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79024" y="200253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OPS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88168" y="229514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Run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10369296" y="3063240"/>
            <a:ext cx="1261872" cy="713232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635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79024" y="318211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488168" y="347472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proposal/event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2395728" y="2240280"/>
            <a:ext cx="420624" cy="0"/>
          </a:xfrm>
          <a:prstGeom prst="line">
            <a:avLst/>
          </a:prstGeom>
          <a:noFill/>
          <a:ln w="17780">
            <a:solidFill>
              <a:srgbClr val="1976D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395728" y="3419856"/>
            <a:ext cx="420624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858768" y="2596896"/>
            <a:ext cx="0" cy="466344"/>
          </a:xfrm>
          <a:prstGeom prst="line">
            <a:avLst/>
          </a:prstGeom>
          <a:noFill/>
          <a:ln w="16510">
            <a:solidFill>
              <a:srgbClr val="C7D5E4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901184" y="2240280"/>
            <a:ext cx="438912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01184" y="3419856"/>
            <a:ext cx="438912" cy="0"/>
          </a:xfrm>
          <a:prstGeom prst="line">
            <a:avLst/>
          </a:prstGeom>
          <a:noFill/>
          <a:ln w="17780">
            <a:solidFill>
              <a:srgbClr val="F05A3C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43216" y="2240280"/>
            <a:ext cx="438912" cy="457200"/>
          </a:xfrm>
          <a:prstGeom prst="line">
            <a:avLst/>
          </a:prstGeom>
          <a:noFill/>
          <a:ln w="17780">
            <a:solidFill>
              <a:srgbClr val="C7D5E4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43216" y="3419856"/>
            <a:ext cx="438912" cy="-365760"/>
          </a:xfrm>
          <a:prstGeom prst="line">
            <a:avLst/>
          </a:prstGeom>
          <a:noFill/>
          <a:ln w="17780">
            <a:solidFill>
              <a:srgbClr val="C7D5E4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966960" y="2761488"/>
            <a:ext cx="402336" cy="-521208"/>
          </a:xfrm>
          <a:prstGeom prst="line">
            <a:avLst/>
          </a:prstGeom>
          <a:noFill/>
          <a:ln w="17780">
            <a:solidFill>
              <a:srgbClr val="1F9D72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966960" y="2944368"/>
            <a:ext cx="402336" cy="475488"/>
          </a:xfrm>
          <a:prstGeom prst="line">
            <a:avLst/>
          </a:prstGeom>
          <a:noFill/>
          <a:ln w="17780">
            <a:solidFill>
              <a:srgbClr val="1F9D72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21792" y="4370832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FFF8EF"/>
          </a:solidFill>
          <a:ln w="6350">
            <a:solidFill>
              <a:srgbClr val="F4D6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" y="46451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4B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Luồng bằng chứng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304288" y="458114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proposal lưu snapshot nguồn, prediction run, model version, feature attribution, wave timeline, stress outcome, chi phí và proposal ID xác định.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" y="571500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i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Storage lưu payload bất biến; BigQuery giữ liên kết raw_gcs_uri. Dữ liệu vận hành trong prototype được gắn nhãn simulated.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DECISION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SafePause: tối ưu dưới ràng buộc, không chỉ “chọn người rủi ro cao”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19786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chỉ trả đề xuất khi bằng chứng mô hình đầy đủ và toàn bộ guardrail được thỏa mãn.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975104"/>
            <a:ext cx="1938528" cy="27432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75104"/>
            <a:ext cx="1938528" cy="100584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5528" y="267004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Bằng chứng đúng snapshot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3456432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Đọc điểm baseline và 8 biến thể action cho từng tài xế.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2888" y="3337560"/>
            <a:ext cx="237744" cy="0"/>
          </a:xfrm>
          <a:prstGeom prst="line">
            <a:avLst/>
          </a:prstGeom>
          <a:noFill/>
          <a:ln w="15240">
            <a:solidFill>
              <a:srgbClr val="C7D5E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975104"/>
            <a:ext cx="1938528" cy="27432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975104"/>
            <a:ext cx="1938528" cy="100584"/>
          </a:xfrm>
          <a:prstGeom prst="rect">
            <a:avLst/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35808" y="267004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tiên bắt buộc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35808" y="3456432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xế phơi nhiễm liên tục ≥ 4 giờ luôn được bao phủ trước.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73168" y="3337560"/>
            <a:ext cx="237744" cy="0"/>
          </a:xfrm>
          <a:prstGeom prst="line">
            <a:avLst/>
          </a:prstGeom>
          <a:noFill/>
          <a:ln w="15240">
            <a:solidFill>
              <a:srgbClr val="C7D5E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74920" y="1975104"/>
            <a:ext cx="1938528" cy="27432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1975104"/>
            <a:ext cx="1938528" cy="100584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76088" y="267004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ứng viên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76088" y="3456432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Liệt kê thời lượng, coverage và các wave lệch nhau.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13448" y="3337560"/>
            <a:ext cx="237744" cy="0"/>
          </a:xfrm>
          <a:prstGeom prst="line">
            <a:avLst/>
          </a:prstGeom>
          <a:noFill/>
          <a:ln w="15240">
            <a:solidFill>
              <a:srgbClr val="C7D5E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1975104"/>
            <a:ext cx="1938528" cy="27432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975104"/>
            <a:ext cx="1938528" cy="100584"/>
          </a:xfrm>
          <a:prstGeom prst="rect">
            <a:avLst/>
          </a:prstGeom>
          <a:solidFill>
            <a:srgbClr val="00A6A6"/>
          </a:solidFill>
          <a:ln w="635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16368" y="267004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Stress-test dịch vụ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16368" y="3456432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 phỏng supply/backlog/fulfillment/ETA với P50 và upper demand.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253728" y="3337560"/>
            <a:ext cx="237744" cy="0"/>
          </a:xfrm>
          <a:prstGeom prst="line">
            <a:avLst/>
          </a:prstGeom>
          <a:noFill/>
          <a:ln w="15240">
            <a:solidFill>
              <a:srgbClr val="C7D5E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55480" y="1975104"/>
            <a:ext cx="1938528" cy="27432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55480" y="1975104"/>
            <a:ext cx="1938528" cy="100584"/>
          </a:xfrm>
          <a:prstGeom prst="rect">
            <a:avLst/>
          </a:prstGeom>
          <a:solidFill>
            <a:srgbClr val="1F9D72"/>
          </a:solidFill>
          <a:ln w="635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56648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9D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56648" y="267004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closed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56648" y="3456432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đủ model hoặc không feasible → không có recommendation.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" y="5148072"/>
            <a:ext cx="11018520" cy="557784"/>
          </a:xfrm>
          <a:prstGeom prst="roundRect">
            <a:avLst>
              <a:gd name="adj" fmla="val 16393"/>
            </a:avLst>
          </a:prstGeom>
          <a:solidFill>
            <a:srgbClr val="102A43"/>
          </a:solidFill>
          <a:ln w="635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5312664"/>
            <a:ext cx="10515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hard-coded trong engine: degradation fulfillment upper-demand ≤ 2 điểm %  •  ETA tăng ≤ 2 phút  •  tổng chi phí ≤ budget cap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VẬN HÀNH END-TO-END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đưa app từ dữ liệu đến màn hình Ops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19786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giao diện phục vụ quyết định khỏi tác vụ nặng để hệ thống dễ vận hành và dễ kiểm soát chi phí.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568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02996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457200" cy="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993392" y="19385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38144" y="19385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Run Job lấy thời tiết / tạo snapshot; payload raw vào Cloud Storage, dữ liệu chuẩn hóa vào BigQuery.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6112" y="2432304"/>
            <a:ext cx="0" cy="466344"/>
          </a:xfrm>
          <a:prstGeom prst="line">
            <a:avLst/>
          </a:prstGeom>
          <a:noFill/>
          <a:ln w="16510">
            <a:solidFill>
              <a:srgbClr val="C7D5E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8986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7180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136392"/>
            <a:ext cx="457200" cy="0"/>
          </a:xfrm>
          <a:prstGeom prst="line">
            <a:avLst/>
          </a:prstGeom>
          <a:noFill/>
          <a:ln w="19050">
            <a:solidFill>
              <a:srgbClr val="F05A3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993392" y="28803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38144" y="2880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Run Job huấn luyện hoặc scoring theo snapshot; BigQuery ML materialize forecast và action-conditioned risk.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6112" y="3374136"/>
            <a:ext cx="0" cy="466344"/>
          </a:xfrm>
          <a:prstGeom prst="line">
            <a:avLst/>
          </a:prstGeom>
          <a:noFill/>
          <a:ln w="16510">
            <a:solidFill>
              <a:srgbClr val="C7D5E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" y="38404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635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913632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078224"/>
            <a:ext cx="4572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993392" y="382219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38144" y="38221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Run Service chạy Streamlit, đọc snapshot + output đã materialize, render dashboard và decision workspace.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6112" y="4315968"/>
            <a:ext cx="0" cy="466344"/>
          </a:xfrm>
          <a:prstGeom prst="line">
            <a:avLst/>
          </a:prstGeom>
          <a:noFill/>
          <a:ln w="16510">
            <a:solidFill>
              <a:srgbClr val="C7D5E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8368" y="478231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F9D72"/>
          </a:solidFill>
          <a:ln w="635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85546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71600" y="5020056"/>
            <a:ext cx="457200" cy="0"/>
          </a:xfrm>
          <a:prstGeom prst="line">
            <a:avLst/>
          </a:prstGeom>
          <a:noFill/>
          <a:ln w="19050">
            <a:solidFill>
              <a:srgbClr val="1F9D72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993392" y="476402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/ audit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38144" y="476402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dùng xem proposal; hành động demo được đánh dấu SIMULATED, sự kiện ghi vào BigQuery audit.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74152" y="1737360"/>
            <a:ext cx="3493008" cy="502920"/>
          </a:xfrm>
          <a:prstGeom prst="roundRect">
            <a:avLst>
              <a:gd name="adj" fmla="val 18182"/>
            </a:avLst>
          </a:prstGeom>
          <a:solidFill>
            <a:srgbClr val="FFF8EF"/>
          </a:solidFill>
          <a:ln w="6350">
            <a:solidFill>
              <a:srgbClr val="F4D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1874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4B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có Scheduler định kỳ trong demo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5833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i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 job ingest/train/score được triển khai riêng và gọi thủ công khi cần refresh dữ liệu hoặc mô hình — phù hợp mục tiêu demo và tránh provider compute không cần thiết.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HẠ TẦNG GCP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Dùng managed services ở đúng nơi có giá trị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19786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Kiến trúc GCP giảm gánh nặng vận hành, giữ dữ liệu/AI gần nhau và scale UI độc lập với pipeline.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512064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83080"/>
            <a:ext cx="64008" cy="1060704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65960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Run Service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2340864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Streamlit UI public cho demo; image build từ source; giới hạn tối đa 2 instances.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181344" y="1783080"/>
            <a:ext cx="512064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1344" y="1783080"/>
            <a:ext cx="64008" cy="1060704"/>
          </a:xfrm>
          <a:prstGeom prst="rect">
            <a:avLst/>
          </a:prstGeom>
          <a:solidFill>
            <a:srgbClr val="00A6A6"/>
          </a:solidFill>
          <a:ln w="635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965960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Run Jobs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9944" y="2340864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ingestion, train model và score snapshot; retry + timeout theo từng loại tác vụ.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21792" y="3136392"/>
            <a:ext cx="512064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136392"/>
            <a:ext cx="64008" cy="1060704"/>
          </a:xfrm>
          <a:prstGeom prst="rect">
            <a:avLst/>
          </a:prstGeom>
          <a:solidFill>
            <a:srgbClr val="102A43"/>
          </a:solidFill>
          <a:ln w="635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31927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" y="3694176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of record: history, feature, forecast, predictions, audit và current snapshot.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181344" y="3136392"/>
            <a:ext cx="512064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3136392"/>
            <a:ext cx="64008" cy="1060704"/>
          </a:xfrm>
          <a:prstGeom prst="rect">
            <a:avLst/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331927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 ML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9944" y="3694176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Boosted-tree classifier cho heat-risk; TimesFM AI.FORECAST cho nhu cầu theo zone.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21792" y="4489704"/>
            <a:ext cx="512064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4489704"/>
            <a:ext cx="64008" cy="1060704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672584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Storage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" y="5047488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payload raw/replay/checkpoint bất biến; liên kết lineage bằng URI/checksum.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181344" y="4489704"/>
            <a:ext cx="512064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344" y="4489704"/>
            <a:ext cx="64008" cy="1060704"/>
          </a:xfrm>
          <a:prstGeom prst="rect">
            <a:avLst/>
          </a:prstGeom>
          <a:solidFill>
            <a:srgbClr val="1F9D72"/>
          </a:solidFill>
          <a:ln w="635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4672584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Vertex AI Gemini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9944" y="5047488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calling trên allowlist để giải thích evidence; không tự viết SQL hay duyệt action.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21792" y="5870448"/>
            <a:ext cx="10954512" cy="310896"/>
          </a:xfrm>
          <a:prstGeom prst="roundRect">
            <a:avLst>
              <a:gd name="adj" fmla="val 23529"/>
            </a:avLst>
          </a:prstGeom>
          <a:solidFill>
            <a:srgbClr val="EAF1F8"/>
          </a:solidFill>
          <a:ln w="6350">
            <a:solidFill>
              <a:srgbClr val="EAF1F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934456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Triển khai bằng `gcloud run deploy --source` kích hoạt Cloud Build / Artifact Registry; Cloud Logging nhận structured stdout từ ứng dụng và jobs.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TỐI ƯU HIỆU NĂNG &amp; CHI PHÍ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Tối ưu được thiết kế vào kiến trúc — không chỉ ở UI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19786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tiêu: phản hồi nhanh cho operator, hạn chế provider I/O và không đánh đổi tính đúng đắn.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865376"/>
            <a:ext cx="334670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865376"/>
            <a:ext cx="64008" cy="1554480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48256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theo loại dữ liệu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2423160"/>
            <a:ext cx="29077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cache: snapshot 5 phút; AI summary/plan 15 phút; replay metadata 10 giây.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315968" y="1865376"/>
            <a:ext cx="334670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1865376"/>
            <a:ext cx="64008" cy="1554480"/>
          </a:xfrm>
          <a:prstGeom prst="rect">
            <a:avLst/>
          </a:prstGeom>
          <a:solidFill>
            <a:srgbClr val="00A6A6"/>
          </a:solidFill>
          <a:ln w="635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048256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Materialize trước khi serve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44568" y="2423160"/>
            <a:ext cx="29077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đọc forecast/prediction đã có trong BigQuery thay vì thực hiện train hoặc scoring trong request path.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010144" y="1865376"/>
            <a:ext cx="334670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1865376"/>
            <a:ext cx="64008" cy="155448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2048256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I/O bị giới hạn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38744" y="2423160"/>
            <a:ext cx="29077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TimesFM dùng context bounded 21 ngày / 2.048 điểm; lỗi forecast được surfacing thay vì reuse âm thầm.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21792" y="3767328"/>
            <a:ext cx="334670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767328"/>
            <a:ext cx="64008" cy="1554480"/>
          </a:xfrm>
          <a:prstGeom prst="rect">
            <a:avLst/>
          </a:prstGeom>
          <a:solidFill>
            <a:srgbClr val="1F9D72"/>
          </a:solidFill>
          <a:ln w="635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950208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Giảm payload action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" y="4325112"/>
            <a:ext cx="29077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evidence bỏ 8 biến thể action cho tài xế nằm xa ngưỡng rủi ro/4 giờ exposure.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315968" y="3767328"/>
            <a:ext cx="334670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3767328"/>
            <a:ext cx="64008" cy="1554480"/>
          </a:xfrm>
          <a:prstGeom prst="rect">
            <a:avLst/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3950208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&amp; chi phí an toàn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44568" y="4325112"/>
            <a:ext cx="29077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Provision/seed dùng MERGE, không truncate dữ liệu live; staging dataset có TTL 1 giờ.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010144" y="3767328"/>
            <a:ext cx="334670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0144" y="3767328"/>
            <a:ext cx="64008" cy="1554480"/>
          </a:xfrm>
          <a:prstGeom prst="rect">
            <a:avLst/>
          </a:prstGeom>
          <a:solidFill>
            <a:srgbClr val="102A43"/>
          </a:solidFill>
          <a:ln w="635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3950208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không gọi provider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38744" y="4325112"/>
            <a:ext cx="29077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historical là read-only; production window dùng warm checkpoint + engine deterministic.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21792" y="5879592"/>
            <a:ext cx="10954512" cy="310896"/>
          </a:xfrm>
          <a:prstGeom prst="roundRect">
            <a:avLst>
              <a:gd name="adj" fmla="val 23529"/>
            </a:avLst>
          </a:prstGeom>
          <a:solidFill>
            <a:srgbClr val="102A43"/>
          </a:solidFill>
          <a:ln w="635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943600"/>
            <a:ext cx="10588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quả: đường đi nóng ngắn hơn, compute tách rời, dữ liệu có freshness/lineage và demo không đốt compute nền không cần thiết.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TRUST BY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toàn, khả năng giải thích và khả năng audit là “first-class”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19786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Đây là nền tảng để đưa một công cụ AI vào bối cảnh vận hành nhạy cảm.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0936" y="1938528"/>
            <a:ext cx="2423160" cy="2523744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938528"/>
            <a:ext cx="2423160" cy="118872"/>
          </a:xfrm>
          <a:prstGeom prst="rect">
            <a:avLst/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31343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41401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" y="31272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CLOSED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" y="3538728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MODEL_UNAVAILABLE hoặc NO_FEASIBLE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bao giờ chứa recommendation.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74136" y="1938528"/>
            <a:ext cx="2423160" cy="2523744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4136" y="1938528"/>
            <a:ext cx="2423160" cy="118872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304" y="231343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5304" y="241401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75304" y="31272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75304" y="3538728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Snapshot, model, prediction run, checksum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và proposal ID được giữ cùng kết quả.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17336" y="1938528"/>
            <a:ext cx="2423160" cy="2523744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7336" y="1938528"/>
            <a:ext cx="2423160" cy="118872"/>
          </a:xfrm>
          <a:prstGeom prst="rect">
            <a:avLst/>
          </a:prstGeom>
          <a:solidFill>
            <a:srgbClr val="00A6A6"/>
          </a:solidFill>
          <a:ln w="635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8504" y="231343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635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241401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31272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IN THE LOOP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8504" y="3538728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chỉ giải thích evidence allowlisted;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duyệt action, không viết SQL.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60536" y="1938528"/>
            <a:ext cx="2423160" cy="2523744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6350">
            <a:solidFill>
              <a:srgbClr val="C7D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0536" y="1938528"/>
            <a:ext cx="2423160" cy="118872"/>
          </a:xfrm>
          <a:prstGeom prst="rect">
            <a:avLst/>
          </a:prstGeom>
          <a:solidFill>
            <a:srgbClr val="1F9D72"/>
          </a:solidFill>
          <a:ln w="635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31343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1F9D72"/>
          </a:solidFill>
          <a:ln w="635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61704" y="241401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61704" y="31272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 BOUNDARY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61704" y="3538728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action có dispatch_status = NOT_APPLICABLE;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gửi lệnh thật tới tài xế.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" y="4965192"/>
            <a:ext cx="10927080" cy="676656"/>
          </a:xfrm>
          <a:prstGeom prst="roundRect">
            <a:avLst>
              <a:gd name="adj" fmla="val 14865"/>
            </a:avLst>
          </a:prstGeom>
          <a:solidFill>
            <a:srgbClr val="FFF8EF"/>
          </a:solidFill>
          <a:ln w="6350">
            <a:solidFill>
              <a:srgbClr val="F4D6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175504"/>
            <a:ext cx="10424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7041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Phạm vi demo hiện tại: public access phù hợp hackathon. Production thật cần authentication, nguyên tắc least privilege chi tiết hơn và downstream command consumer được kiểm soát.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ĐIỂM MẠNH NỔI BẬT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HeatSafe là decision system có bằng chứng — không phải dashboard đơn thuần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19786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khác biệt nằm ở cách các thành phần vận hành cùng nhau dưới ràng buộc thực tế.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0936" y="1755648"/>
            <a:ext cx="429768" cy="429768"/>
          </a:xfrm>
          <a:prstGeom prst="roundRect">
            <a:avLst>
              <a:gd name="adj" fmla="val 50000"/>
            </a:avLst>
          </a:prstGeom>
          <a:solidFill>
            <a:srgbClr val="F05A3C"/>
          </a:solidFill>
          <a:ln w="6350">
            <a:solidFill>
              <a:srgbClr val="F05A3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856232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298448" y="17373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Safety-first optimization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43400" y="1737360"/>
            <a:ext cx="6263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tiên cohort phơi nhiễm dài, sau đó mới tối ưu benefit/cost.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30936" y="2468880"/>
            <a:ext cx="429768" cy="429768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 w="635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2569464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98448" y="2450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Action-conditioned AI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2450592"/>
            <a:ext cx="6263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sánh no-action với 8 biến thể SafePause theo từng tài xế.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30936" y="3182112"/>
            <a:ext cx="429768" cy="4297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635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3282696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98448" y="31638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guardrails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43400" y="3163824"/>
            <a:ext cx="6263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soát chi phí, fulfillment và ETA dưới upper-demand stress.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0936" y="3895344"/>
            <a:ext cx="429768" cy="429768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635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3995928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298448" y="38770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&amp; explainable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43400" y="3877056"/>
            <a:ext cx="6263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Lineage, factor, model version và audit được lưu xuyên suốt.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0936" y="4608576"/>
            <a:ext cx="429768" cy="429768"/>
          </a:xfrm>
          <a:prstGeom prst="roundRect">
            <a:avLst>
              <a:gd name="adj" fmla="val 50000"/>
            </a:avLst>
          </a:prstGeom>
          <a:solidFill>
            <a:srgbClr val="1F9D72"/>
          </a:solidFill>
          <a:ln w="635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4709160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298448" y="45902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Cloud-native, practical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43400" y="4590288"/>
            <a:ext cx="6263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Run + BigQuery + Storage + Vertex AI: managed, tách rời và dễ mở rộng.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30936" y="5541264"/>
            <a:ext cx="10927080" cy="530352"/>
          </a:xfrm>
          <a:prstGeom prst="roundRect">
            <a:avLst>
              <a:gd name="adj" fmla="val 18966"/>
            </a:avLst>
          </a:prstGeom>
          <a:solidFill>
            <a:srgbClr val="102A43"/>
          </a:solidFill>
          <a:ln w="635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70585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Thông điệp chốt: HeatSafe biến AI thành hành động vận hành có rào chắn — bảo vệ con người mà không bỏ quên chất lượng dịch vụ.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HeatSafe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HeatSafe AI Ops — Kiến trúc vận hành &amp; GCP</dc:title>
  <dc:subject>Cấu trúc, vận hành và hạ tầng GCP của HeatSafe AI Ops</dc:subject>
  <dc:creator>HeatSafe AI Ops</dc:creator>
  <cp:lastModifiedBy>HeatSafe AI Ops</cp:lastModifiedBy>
  <cp:revision>1</cp:revision>
  <dcterms:created xsi:type="dcterms:W3CDTF">2026-07-26T13:53:00Z</dcterms:created>
  <dcterms:modified xsi:type="dcterms:W3CDTF">2026-07-26T13:53:00Z</dcterms:modified>
</cp:coreProperties>
</file>